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43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3D57-030C-5D48-8B48-14EABE1EC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B0D18-F980-BE45-8736-2B44007B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DCD1F-1EA3-F14F-A673-10BCFF5B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A3B9-5383-C146-9DFD-DEC8C5F8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B154E-5B9D-C941-840E-32FDADF6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6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E42A-47A6-DF40-A4DD-7B17A5AB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C70AF-FCD5-B748-8FC6-89D4813F1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B75E6-98E3-2A41-AC4E-8214BF19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32FF3-496E-F945-9D31-F517B2D7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0820B-A576-FB42-B8AB-D6609881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2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FB16-37B6-9A4E-87AE-029E27FF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A90D5-8FA4-214A-B568-A8DDC27D4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35064-A613-9644-8C04-28AAFC61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70F21-D84D-7342-A19D-B9FEABEC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6BBC1-0536-094C-A724-B91EB6F7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1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F6E5-2F87-5B4F-9848-DD6D1376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161D-F03F-E640-9AFD-C6E497284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5F239-ED08-9143-B836-E89E24FE5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84C6F-EB17-2242-AFC1-D4E4FAB7C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7C572-B432-BF43-9D4D-3617B8DA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FCBF3-C7F6-1446-9146-E3F845B0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2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4714-DD19-5C4A-AE5E-AB152534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69E0E-BB71-A14F-8798-98648298C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16C3F-1D71-2649-B993-B6C118180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337EC-6372-FE45-9C46-BFA200173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F327E-E2AA-5649-8885-409674A6E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F5DC6-5CDA-544A-B0FF-EA743A63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7E3AA-A45E-7740-850B-B153E8EE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F826A-5ED5-3C42-B4D6-38B3BAA3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5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B5BE-5FF4-7B4C-BB75-A147B7F9A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DFD40-2307-7040-A98E-9254867F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ED13D-7C56-4C4E-9865-5AA36E56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ABD7B-825B-3141-B394-D9D5D1AE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0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10A7C-426A-F24A-8E56-5AC0A8FD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D8D857-B92D-CD40-B033-797F026AC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57E87-DD40-CB49-A484-545AA027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6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89B2-1D70-7746-AB78-1961788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0E25-1868-7040-A9F1-1B9DDED21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897DF-A3FA-B743-9914-54C54E990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B734E-C0EB-BF4B-93E0-B3C22036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99DCB-E574-294F-B0A2-A56BA9A0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C104E-E38A-BE4E-87B9-A3D226FD4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1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4829-8154-4C43-BA01-5195CEB9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89B2C-AC4D-264B-BF69-D47347D27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E0234-1AE5-6641-A753-DD105F155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AF9C3-D552-B74C-8C1A-74821D00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583DD-6EE5-0045-99CB-A9AF9EFF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80CED-B238-1348-BDE3-E06F528E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39A8-CF3D-D342-9DDF-323F412B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58095-E295-4243-9677-7B64D32D5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776A6-2E54-7E45-8696-A78DBE03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FFD0E-E819-3644-AFBC-386D187C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F4A4B-95BC-4740-B191-67DA82B2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1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D2E31-CAD2-7945-939F-16FFCF4FC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C2FA0-CFF9-6441-BEAD-04CC7EC38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31CF-8D7C-2143-B8F6-AD4C49AF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C3BF5-63DA-184F-8BA6-54AD125B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52DEA-8A90-294B-8495-3D4890EC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8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C6CDA-B766-E34A-A732-B2A77272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5F8F-F5DA-B048-9E4F-C0703AA8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F1A4-DAFD-8F40-9A46-561FEED6E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90185-E468-E04E-AD5C-5BD071044FD6}" type="datetimeFigureOut">
              <a:rPr lang="en-US" smtClean="0"/>
              <a:t>4/24/20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DE0AF-D4D6-9C41-9CE8-EF71C758C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4F694-A9A2-F44C-B28B-F3128EE63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0C90-1527-F549-9DF4-3FE8DAF19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5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8">
            <a:extLst>
              <a:ext uri="{FF2B5EF4-FFF2-40B4-BE49-F238E27FC236}">
                <a16:creationId xmlns:a16="http://schemas.microsoft.com/office/drawing/2014/main" id="{7EFC43A7-C136-414A-BBA5-638F10C6D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13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 err="1"/>
              <a:t>ChIP-Seq</a:t>
            </a:r>
            <a:br>
              <a:rPr lang="en-US" altLang="en-US" sz="2000" b="1" dirty="0"/>
            </a:br>
            <a:r>
              <a:rPr lang="en-US" altLang="en-US" sz="2000" dirty="0"/>
              <a:t>H3K27ac super-enhancer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8A312-6947-9240-AB51-697BA5ECE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90" y="1113379"/>
            <a:ext cx="5155324" cy="5155324"/>
          </a:xfrm>
          <a:prstGeom prst="rect">
            <a:avLst/>
          </a:prstGeom>
        </p:spPr>
      </p:pic>
      <p:sp>
        <p:nvSpPr>
          <p:cNvPr id="8" name="TextBox 18">
            <a:extLst>
              <a:ext uri="{FF2B5EF4-FFF2-40B4-BE49-F238E27FC236}">
                <a16:creationId xmlns:a16="http://schemas.microsoft.com/office/drawing/2014/main" id="{DA78E8B2-E964-1540-A72E-E3AD7E438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470682"/>
            <a:ext cx="10619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000" b="1" dirty="0" err="1"/>
              <a:t>UI_vs_D</a:t>
            </a:r>
            <a:endParaRPr lang="en-US" altLang="en-US" sz="2000" dirty="0"/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042F87BF-00F3-3541-8FED-F0F55FC99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982" y="1113737"/>
            <a:ext cx="5155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Total enhancers: </a:t>
            </a:r>
            <a:r>
              <a:rPr lang="en-US" altLang="en-US" sz="2000" dirty="0"/>
              <a:t>13739</a:t>
            </a:r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EBC5CD0D-22C3-0A4B-99FE-932C2CF23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7352" y="1113379"/>
            <a:ext cx="5155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Total super-enhancers: </a:t>
            </a:r>
            <a:r>
              <a:rPr lang="en-US" altLang="en-US" sz="2000" dirty="0"/>
              <a:t>364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ACE1571-32C5-8741-9ABB-320DD3553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45238"/>
              </p:ext>
            </p:extLst>
          </p:nvPr>
        </p:nvGraphicFramePr>
        <p:xfrm>
          <a:off x="6066152" y="1635592"/>
          <a:ext cx="6074979" cy="2235200"/>
        </p:xfrm>
        <a:graphic>
          <a:graphicData uri="http://schemas.openxmlformats.org/drawingml/2006/table">
            <a:tbl>
              <a:tblPr/>
              <a:tblGrid>
                <a:gridCol w="1366345">
                  <a:extLst>
                    <a:ext uri="{9D8B030D-6E8A-4147-A177-3AD203B41FA5}">
                      <a16:colId xmlns:a16="http://schemas.microsoft.com/office/drawing/2014/main" val="1317291065"/>
                    </a:ext>
                  </a:extLst>
                </a:gridCol>
                <a:gridCol w="2126565">
                  <a:extLst>
                    <a:ext uri="{9D8B030D-6E8A-4147-A177-3AD203B41FA5}">
                      <a16:colId xmlns:a16="http://schemas.microsoft.com/office/drawing/2014/main" val="2388445499"/>
                    </a:ext>
                  </a:extLst>
                </a:gridCol>
                <a:gridCol w="1056301">
                  <a:extLst>
                    <a:ext uri="{9D8B030D-6E8A-4147-A177-3AD203B41FA5}">
                      <a16:colId xmlns:a16="http://schemas.microsoft.com/office/drawing/2014/main" val="2492108572"/>
                    </a:ext>
                  </a:extLst>
                </a:gridCol>
                <a:gridCol w="980171">
                  <a:extLst>
                    <a:ext uri="{9D8B030D-6E8A-4147-A177-3AD203B41FA5}">
                      <a16:colId xmlns:a16="http://schemas.microsoft.com/office/drawing/2014/main" val="1240608917"/>
                    </a:ext>
                  </a:extLst>
                </a:gridCol>
                <a:gridCol w="545597">
                  <a:extLst>
                    <a:ext uri="{9D8B030D-6E8A-4147-A177-3AD203B41FA5}">
                      <a16:colId xmlns:a16="http://schemas.microsoft.com/office/drawing/2014/main" val="47485857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OVERLAP_GENES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PROXIMAL_GENES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CLOSEST_GENE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enhancerRank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isSuper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1878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Rn45s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Rn45s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43101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Sept9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Sept9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915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Mreg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Mreg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2058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Tbc1d2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Coro2a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Tbc1d2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71323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Plekhg6,Cd9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Plekhg6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57943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Ndufa13,Pbx4,Cilp2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Lpar2,Tssk6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Cilp2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01845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Hs6st1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Hs6st1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4223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Amn,Cdc42bpb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45551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Cux2,Myl2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124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Gng7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Diras1,Timm13,Gadd45b,Lmnb2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Gadd45b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286028"/>
                  </a:ext>
                </a:extLst>
              </a:tr>
            </a:tbl>
          </a:graphicData>
        </a:graphic>
      </p:graphicFrame>
      <p:sp>
        <p:nvSpPr>
          <p:cNvPr id="15" name="TextBox 18">
            <a:extLst>
              <a:ext uri="{FF2B5EF4-FFF2-40B4-BE49-F238E27FC236}">
                <a16:creationId xmlns:a16="http://schemas.microsoft.com/office/drawing/2014/main" id="{71C90CC6-214D-814D-8F50-B021B2FA0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390" y="6268703"/>
            <a:ext cx="5051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H3K27ac_D Enhancers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1389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00552D8-8316-3D42-AA14-F2DAAECFE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58" y="1114097"/>
            <a:ext cx="5155324" cy="5155324"/>
          </a:xfrm>
          <a:prstGeom prst="rect">
            <a:avLst/>
          </a:prstGeom>
        </p:spPr>
      </p:pic>
      <p:sp>
        <p:nvSpPr>
          <p:cNvPr id="6" name="TextBox 18">
            <a:extLst>
              <a:ext uri="{FF2B5EF4-FFF2-40B4-BE49-F238E27FC236}">
                <a16:creationId xmlns:a16="http://schemas.microsoft.com/office/drawing/2014/main" id="{BAA1309D-C9BA-E84E-9AB4-05AC029D3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91401"/>
            <a:ext cx="10619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000" b="1" dirty="0" err="1"/>
              <a:t>UI_vs_I</a:t>
            </a:r>
            <a:endParaRPr lang="en-US" altLang="en-US" sz="2000" dirty="0"/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30202A3D-D8FE-8B4E-8B60-6ED701001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982" y="1134401"/>
            <a:ext cx="5155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Total enhancers: </a:t>
            </a:r>
            <a:r>
              <a:rPr lang="en-US" altLang="en-US" sz="2000" dirty="0"/>
              <a:t>9433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5350DA5-1DFA-A840-8E67-163E2C829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5670" y="1134401"/>
            <a:ext cx="5155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Total super-enhancers: </a:t>
            </a:r>
            <a:r>
              <a:rPr lang="en-US" altLang="en-US" sz="2000" dirty="0"/>
              <a:t>100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5667815-8B90-B349-B22F-A00CD7EDB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7699"/>
              </p:ext>
            </p:extLst>
          </p:nvPr>
        </p:nvGraphicFramePr>
        <p:xfrm>
          <a:off x="6429704" y="1635236"/>
          <a:ext cx="5029200" cy="22352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1558543228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386492327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71482041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92771243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915931470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OVERLAP_GENES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PROXIMAL_GENES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CLOSEST_GENE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enhancerRank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isSuper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1052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Sfi1,Pisd-ps1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Eif4enif1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Sfi1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8735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Pear1,Ntrk1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Insrr,Lrrc71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Pear1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93274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Fam92b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2880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Zfpm1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07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Ube2v1,Snai1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Snai1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56106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Dnahc8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Dnahc8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6704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2610028E06Rik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2610028E06Rik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5851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Tfeb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Pgc,Tfeb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Tfeb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2005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Doc2b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Ywhae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Doc2b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68776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Tpra1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941045"/>
                  </a:ext>
                </a:extLst>
              </a:tr>
            </a:tbl>
          </a:graphicData>
        </a:graphic>
      </p:graphicFrame>
      <p:sp>
        <p:nvSpPr>
          <p:cNvPr id="20" name="TextBox 18">
            <a:extLst>
              <a:ext uri="{FF2B5EF4-FFF2-40B4-BE49-F238E27FC236}">
                <a16:creationId xmlns:a16="http://schemas.microsoft.com/office/drawing/2014/main" id="{95365920-9123-384D-98A4-5F5737FC7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13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 err="1"/>
              <a:t>ChIP-Seq</a:t>
            </a:r>
            <a:br>
              <a:rPr lang="en-US" altLang="en-US" sz="2000" b="1" dirty="0"/>
            </a:br>
            <a:r>
              <a:rPr lang="en-US" altLang="en-US" sz="2000" dirty="0"/>
              <a:t>H3K27ac super-enhancer analysis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8D97E76F-C5A2-F445-89A8-24B961330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390" y="6268703"/>
            <a:ext cx="50517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 b="1" dirty="0"/>
              <a:t>H3K27ac_I Enhancers</a:t>
            </a:r>
            <a:endParaRPr lang="en-US" altLang="en-US" sz="20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D5F44CF-4676-564A-8F80-F65F2F52C725}"/>
              </a:ext>
            </a:extLst>
          </p:cNvPr>
          <p:cNvGraphicFramePr>
            <a:graphicFrameLocks noGrp="1"/>
          </p:cNvGraphicFramePr>
          <p:nvPr/>
        </p:nvGraphicFramePr>
        <p:xfrm>
          <a:off x="8559581" y="5013791"/>
          <a:ext cx="1841500" cy="812800"/>
        </p:xfrm>
        <a:graphic>
          <a:graphicData uri="http://schemas.openxmlformats.org/drawingml/2006/table">
            <a:tbl>
              <a:tblPr/>
              <a:tblGrid>
                <a:gridCol w="825827">
                  <a:extLst>
                    <a:ext uri="{9D8B030D-6E8A-4147-A177-3AD203B41FA5}">
                      <a16:colId xmlns:a16="http://schemas.microsoft.com/office/drawing/2014/main" val="281610255"/>
                    </a:ext>
                  </a:extLst>
                </a:gridCol>
                <a:gridCol w="1015673">
                  <a:extLst>
                    <a:ext uri="{9D8B030D-6E8A-4147-A177-3AD203B41FA5}">
                      <a16:colId xmlns:a16="http://schemas.microsoft.com/office/drawing/2014/main" val="12794308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Bowtie2 Peaks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4455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44522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5007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44337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3883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106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811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203</Words>
  <Application>Microsoft Macintosh PowerPoint</Application>
  <PresentationFormat>Widescreen</PresentationFormat>
  <Paragraphs>128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2020-04-24T22:16:25Z</dcterms:created>
  <dcterms:modified xsi:type="dcterms:W3CDTF">2020-04-24T22:32:43Z</dcterms:modified>
</cp:coreProperties>
</file>